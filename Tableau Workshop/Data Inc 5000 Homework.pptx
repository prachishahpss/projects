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82853"/>
  </p:normalViewPr>
  <p:slideViewPr>
    <p:cSldViewPr snapToGrid="0">
      <p:cViewPr varScale="1">
        <p:scale>
          <a:sx n="88" d="100"/>
          <a:sy n="88" d="100"/>
        </p:scale>
        <p:origin x="200"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8394FD-D4EC-E643-BC3C-3937833C488C}" type="datetimeFigureOut">
              <a:rPr lang="en-US" smtClean="0"/>
              <a:t>6/26/21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3B53B2-0A8A-D744-BC83-EE7DE5A85068}" type="slidenum">
              <a:rPr lang="en-US" smtClean="0"/>
              <a:t>‹#›</a:t>
            </a:fld>
            <a:endParaRPr lang="en-US"/>
          </a:p>
        </p:txBody>
      </p:sp>
    </p:spTree>
    <p:extLst>
      <p:ext uri="{BB962C8B-B14F-4D97-AF65-F5344CB8AC3E}">
        <p14:creationId xmlns:p14="http://schemas.microsoft.com/office/powerpoint/2010/main" val="741457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a:t>
            </a:r>
          </a:p>
          <a:p>
            <a:r>
              <a:rPr lang="en-US" dirty="0"/>
              <a:t>Today I am going to present various visuals from the data given to us about the Inc. 5000</a:t>
            </a:r>
          </a:p>
        </p:txBody>
      </p:sp>
      <p:sp>
        <p:nvSpPr>
          <p:cNvPr id="4" name="Slide Number Placeholder 3"/>
          <p:cNvSpPr>
            <a:spLocks noGrp="1"/>
          </p:cNvSpPr>
          <p:nvPr>
            <p:ph type="sldNum" sz="quarter" idx="5"/>
          </p:nvPr>
        </p:nvSpPr>
        <p:spPr/>
        <p:txBody>
          <a:bodyPr/>
          <a:lstStyle/>
          <a:p>
            <a:fld id="{233B53B2-0A8A-D744-BC83-EE7DE5A85068}" type="slidenum">
              <a:rPr lang="en-US" smtClean="0"/>
              <a:t>1</a:t>
            </a:fld>
            <a:endParaRPr lang="en-US"/>
          </a:p>
        </p:txBody>
      </p:sp>
    </p:spTree>
    <p:extLst>
      <p:ext uri="{BB962C8B-B14F-4D97-AF65-F5344CB8AC3E}">
        <p14:creationId xmlns:p14="http://schemas.microsoft.com/office/powerpoint/2010/main" val="4273749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horizontal bar graph shows the average growth per state in the United States, with New Mexico having the highest Average growth of 3.58 and Alaska having the lowest Average growth of 0.648.</a:t>
            </a:r>
          </a:p>
        </p:txBody>
      </p:sp>
      <p:sp>
        <p:nvSpPr>
          <p:cNvPr id="4" name="Slide Number Placeholder 3"/>
          <p:cNvSpPr>
            <a:spLocks noGrp="1"/>
          </p:cNvSpPr>
          <p:nvPr>
            <p:ph type="sldNum" sz="quarter" idx="5"/>
          </p:nvPr>
        </p:nvSpPr>
        <p:spPr/>
        <p:txBody>
          <a:bodyPr/>
          <a:lstStyle/>
          <a:p>
            <a:fld id="{233B53B2-0A8A-D744-BC83-EE7DE5A85068}" type="slidenum">
              <a:rPr lang="en-US" smtClean="0"/>
              <a:t>2</a:t>
            </a:fld>
            <a:endParaRPr lang="en-US"/>
          </a:p>
        </p:txBody>
      </p:sp>
    </p:spTree>
    <p:extLst>
      <p:ext uri="{BB962C8B-B14F-4D97-AF65-F5344CB8AC3E}">
        <p14:creationId xmlns:p14="http://schemas.microsoft.com/office/powerpoint/2010/main" val="4005743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shown symbol map shows the relationship between Revenue and Growth per state. For instance, the Revenue at Washington is $3073 M, whereas the growth is 192. So, it shows that if a state has high revenue, that does not necessarily mean that that it has the highest growth.</a:t>
            </a:r>
          </a:p>
        </p:txBody>
      </p:sp>
      <p:sp>
        <p:nvSpPr>
          <p:cNvPr id="4" name="Slide Number Placeholder 3"/>
          <p:cNvSpPr>
            <a:spLocks noGrp="1"/>
          </p:cNvSpPr>
          <p:nvPr>
            <p:ph type="sldNum" sz="quarter" idx="5"/>
          </p:nvPr>
        </p:nvSpPr>
        <p:spPr/>
        <p:txBody>
          <a:bodyPr/>
          <a:lstStyle/>
          <a:p>
            <a:fld id="{233B53B2-0A8A-D744-BC83-EE7DE5A85068}" type="slidenum">
              <a:rPr lang="en-US" smtClean="0"/>
              <a:t>3</a:t>
            </a:fld>
            <a:endParaRPr lang="en-US"/>
          </a:p>
        </p:txBody>
      </p:sp>
    </p:spTree>
    <p:extLst>
      <p:ext uri="{BB962C8B-B14F-4D97-AF65-F5344CB8AC3E}">
        <p14:creationId xmlns:p14="http://schemas.microsoft.com/office/powerpoint/2010/main" val="3358789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bubble chart shows each separate industry along with its respective revenue and growth. As per the size, Construction industry has the maximum revenue of $17559 M, and Software leads in growth, which is 1303.</a:t>
            </a:r>
          </a:p>
          <a:p>
            <a:endParaRPr lang="en-US" dirty="0"/>
          </a:p>
        </p:txBody>
      </p:sp>
      <p:sp>
        <p:nvSpPr>
          <p:cNvPr id="4" name="Slide Number Placeholder 3"/>
          <p:cNvSpPr>
            <a:spLocks noGrp="1"/>
          </p:cNvSpPr>
          <p:nvPr>
            <p:ph type="sldNum" sz="quarter" idx="5"/>
          </p:nvPr>
        </p:nvSpPr>
        <p:spPr/>
        <p:txBody>
          <a:bodyPr/>
          <a:lstStyle/>
          <a:p>
            <a:fld id="{233B53B2-0A8A-D744-BC83-EE7DE5A85068}" type="slidenum">
              <a:rPr lang="en-US" smtClean="0"/>
              <a:t>4</a:t>
            </a:fld>
            <a:endParaRPr lang="en-US"/>
          </a:p>
        </p:txBody>
      </p:sp>
    </p:spTree>
    <p:extLst>
      <p:ext uri="{BB962C8B-B14F-4D97-AF65-F5344CB8AC3E}">
        <p14:creationId xmlns:p14="http://schemas.microsoft.com/office/powerpoint/2010/main" val="3837075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is not so clear on the PowerPoint slide, but if we look at the visualization in Tableau, we can see that the city New York has the maximum number of companies on the list which is 177.</a:t>
            </a:r>
          </a:p>
        </p:txBody>
      </p:sp>
      <p:sp>
        <p:nvSpPr>
          <p:cNvPr id="4" name="Slide Number Placeholder 3"/>
          <p:cNvSpPr>
            <a:spLocks noGrp="1"/>
          </p:cNvSpPr>
          <p:nvPr>
            <p:ph type="sldNum" sz="quarter" idx="5"/>
          </p:nvPr>
        </p:nvSpPr>
        <p:spPr/>
        <p:txBody>
          <a:bodyPr/>
          <a:lstStyle/>
          <a:p>
            <a:fld id="{233B53B2-0A8A-D744-BC83-EE7DE5A85068}" type="slidenum">
              <a:rPr lang="en-US" smtClean="0"/>
              <a:t>5</a:t>
            </a:fld>
            <a:endParaRPr lang="en-US"/>
          </a:p>
        </p:txBody>
      </p:sp>
    </p:spTree>
    <p:extLst>
      <p:ext uri="{BB962C8B-B14F-4D97-AF65-F5344CB8AC3E}">
        <p14:creationId xmlns:p14="http://schemas.microsoft.com/office/powerpoint/2010/main" val="170262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industry’s need of employees is different, so the number of employees in multiple industries range from 30 in Agricultural &amp; Natural Industry to 242813 in Security Industry.</a:t>
            </a:r>
          </a:p>
        </p:txBody>
      </p:sp>
      <p:sp>
        <p:nvSpPr>
          <p:cNvPr id="4" name="Slide Number Placeholder 3"/>
          <p:cNvSpPr>
            <a:spLocks noGrp="1"/>
          </p:cNvSpPr>
          <p:nvPr>
            <p:ph type="sldNum" sz="quarter" idx="5"/>
          </p:nvPr>
        </p:nvSpPr>
        <p:spPr/>
        <p:txBody>
          <a:bodyPr/>
          <a:lstStyle/>
          <a:p>
            <a:fld id="{233B53B2-0A8A-D744-BC83-EE7DE5A85068}" type="slidenum">
              <a:rPr lang="en-US" smtClean="0"/>
              <a:t>6</a:t>
            </a:fld>
            <a:endParaRPr lang="en-US"/>
          </a:p>
        </p:txBody>
      </p:sp>
    </p:spTree>
    <p:extLst>
      <p:ext uri="{BB962C8B-B14F-4D97-AF65-F5344CB8AC3E}">
        <p14:creationId xmlns:p14="http://schemas.microsoft.com/office/powerpoint/2010/main" val="2280734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given visual representation, we can see that revenue and number of employees are not directly related, i.e., Security industry is seen to have the highest number of employees, whereas highest revenue is seen in the Construction industry.</a:t>
            </a:r>
          </a:p>
        </p:txBody>
      </p:sp>
      <p:sp>
        <p:nvSpPr>
          <p:cNvPr id="4" name="Slide Number Placeholder 3"/>
          <p:cNvSpPr>
            <a:spLocks noGrp="1"/>
          </p:cNvSpPr>
          <p:nvPr>
            <p:ph type="sldNum" sz="quarter" idx="5"/>
          </p:nvPr>
        </p:nvSpPr>
        <p:spPr/>
        <p:txBody>
          <a:bodyPr/>
          <a:lstStyle/>
          <a:p>
            <a:fld id="{233B53B2-0A8A-D744-BC83-EE7DE5A85068}" type="slidenum">
              <a:rPr lang="en-US" smtClean="0"/>
              <a:t>7</a:t>
            </a:fld>
            <a:endParaRPr lang="en-US"/>
          </a:p>
        </p:txBody>
      </p:sp>
    </p:spTree>
    <p:extLst>
      <p:ext uri="{BB962C8B-B14F-4D97-AF65-F5344CB8AC3E}">
        <p14:creationId xmlns:p14="http://schemas.microsoft.com/office/powerpoint/2010/main" val="2243073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visualization shows a comparison between Texas and Ohio in terms of number of employees in different industries</a:t>
            </a:r>
          </a:p>
          <a:p>
            <a:r>
              <a:rPr lang="en-US" dirty="0"/>
              <a:t>As the graph clearly represents, Texas leads the most in Health industry and Ohio leads the most in Financial Services.</a:t>
            </a:r>
          </a:p>
        </p:txBody>
      </p:sp>
      <p:sp>
        <p:nvSpPr>
          <p:cNvPr id="4" name="Slide Number Placeholder 3"/>
          <p:cNvSpPr>
            <a:spLocks noGrp="1"/>
          </p:cNvSpPr>
          <p:nvPr>
            <p:ph type="sldNum" sz="quarter" idx="5"/>
          </p:nvPr>
        </p:nvSpPr>
        <p:spPr/>
        <p:txBody>
          <a:bodyPr/>
          <a:lstStyle/>
          <a:p>
            <a:fld id="{233B53B2-0A8A-D744-BC83-EE7DE5A85068}" type="slidenum">
              <a:rPr lang="en-US" smtClean="0"/>
              <a:t>8</a:t>
            </a:fld>
            <a:endParaRPr lang="en-US"/>
          </a:p>
        </p:txBody>
      </p:sp>
    </p:spTree>
    <p:extLst>
      <p:ext uri="{BB962C8B-B14F-4D97-AF65-F5344CB8AC3E}">
        <p14:creationId xmlns:p14="http://schemas.microsoft.com/office/powerpoint/2010/main" val="2653241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6/26/21</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slide1">
            <a:extLst>
              <a:ext uri="{FF2B5EF4-FFF2-40B4-BE49-F238E27FC236}">
                <a16:creationId xmlns:a16="http://schemas.microsoft.com/office/drawing/2014/main" id="{AE7F51A1-8184-4E40-9B85-9E9C66594CDD}"/>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r>
              <a:rPr lang="en-US" sz="7200" dirty="0">
                <a:solidFill>
                  <a:schemeClr val="bg1">
                    <a:lumMod val="95000"/>
                    <a:lumOff val="5000"/>
                  </a:schemeClr>
                </a:solidFill>
                <a:latin typeface="Times New Roman" panose="02020603050405020304" pitchFamily="18" charset="0"/>
                <a:cs typeface="Times New Roman" panose="02020603050405020304" pitchFamily="18" charset="0"/>
              </a:rPr>
              <a:t>Data Inc. 5000 Homework</a:t>
            </a:r>
          </a:p>
        </p:txBody>
      </p:sp>
    </p:spTree>
    <p:extLst>
      <p:ext uri="{BB962C8B-B14F-4D97-AF65-F5344CB8AC3E}">
        <p14:creationId xmlns:p14="http://schemas.microsoft.com/office/powerpoint/2010/main" val="959925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7261"/>
    </mc:Choice>
    <mc:Fallback xmlns="">
      <p:transition spd="slow" advTm="72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 descr="Average Growth Per State">
            <a:extLst>
              <a:ext uri="{FF2B5EF4-FFF2-40B4-BE49-F238E27FC236}">
                <a16:creationId xmlns:a16="http://schemas.microsoft.com/office/drawing/2014/main" id="{DF57E588-DC00-407B-A4DA-3886FFF8ED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68" y="0"/>
            <a:ext cx="5809062" cy="6858000"/>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3762"/>
    </mc:Choice>
    <mc:Fallback xmlns="">
      <p:transition spd="slow" advTm="1376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3" descr="Revenue V/s Revenue Per State">
            <a:extLst>
              <a:ext uri="{FF2B5EF4-FFF2-40B4-BE49-F238E27FC236}">
                <a16:creationId xmlns:a16="http://schemas.microsoft.com/office/drawing/2014/main" id="{3BCA21E5-6EE1-4059-A61F-73B4B80A91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7287" y="80962"/>
            <a:ext cx="9877425" cy="6696075"/>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20200"/>
    </mc:Choice>
    <mc:Fallback xmlns="">
      <p:transition spd="slow" advTm="202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lide4" descr="Industry, Revenue, and Growth">
            <a:extLst>
              <a:ext uri="{FF2B5EF4-FFF2-40B4-BE49-F238E27FC236}">
                <a16:creationId xmlns:a16="http://schemas.microsoft.com/office/drawing/2014/main" id="{42D0FF6F-BA67-4E40-9E01-D0DC84182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7437" y="80962"/>
            <a:ext cx="7477125" cy="6696075"/>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9009"/>
    </mc:Choice>
    <mc:Fallback xmlns="">
      <p:transition spd="slow" advTm="1900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de5" descr="Cities&amp;apos; Revenues">
            <a:extLst>
              <a:ext uri="{FF2B5EF4-FFF2-40B4-BE49-F238E27FC236}">
                <a16:creationId xmlns:a16="http://schemas.microsoft.com/office/drawing/2014/main" id="{EA3F090A-90D7-4CBD-847F-0CF20908A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900533" y="-2375803"/>
            <a:ext cx="6339017" cy="11634317"/>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8429"/>
    </mc:Choice>
    <mc:Fallback xmlns="">
      <p:transition spd="slow" advTm="184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lide6" descr="Industry-wise Employees">
            <a:extLst>
              <a:ext uri="{FF2B5EF4-FFF2-40B4-BE49-F238E27FC236}">
                <a16:creationId xmlns:a16="http://schemas.microsoft.com/office/drawing/2014/main" id="{45D8D793-0794-4EC2-863D-CD0542C9D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8868"/>
            <a:ext cx="12192000" cy="6260263"/>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9518"/>
    </mc:Choice>
    <mc:Fallback xmlns="">
      <p:transition spd="slow" advTm="1951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lide7" descr="Revenue and Employees">
            <a:extLst>
              <a:ext uri="{FF2B5EF4-FFF2-40B4-BE49-F238E27FC236}">
                <a16:creationId xmlns:a16="http://schemas.microsoft.com/office/drawing/2014/main" id="{FD1ACFBD-A757-4A6C-8032-84DF96FBB3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3547"/>
            <a:ext cx="12192000" cy="6250906"/>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7069"/>
    </mc:Choice>
    <mc:Fallback xmlns="">
      <p:transition spd="slow" advTm="1706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99FEA3-FAF8-0B48-98DC-6F30C1305311}"/>
              </a:ext>
            </a:extLst>
          </p:cNvPr>
          <p:cNvPicPr>
            <a:picLocks noChangeAspect="1"/>
          </p:cNvPicPr>
          <p:nvPr/>
        </p:nvPicPr>
        <p:blipFill>
          <a:blip r:embed="rId3"/>
          <a:stretch>
            <a:fillRect/>
          </a:stretch>
        </p:blipFill>
        <p:spPr>
          <a:xfrm>
            <a:off x="642551" y="0"/>
            <a:ext cx="11318789" cy="6858000"/>
          </a:xfrm>
          <a:prstGeom prst="rect">
            <a:avLst/>
          </a:prstGeom>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2000" advTm="19186"/>
    </mc:Choice>
    <mc:Fallback xmlns="">
      <p:transition spd="slow" advTm="1918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6E2BF50-CAC6-354C-9697-E5DEEE1C9620}"/>
              </a:ext>
            </a:extLst>
          </p:cNvPr>
          <p:cNvSpPr>
            <a:spLocks noGrp="1"/>
          </p:cNvSpPr>
          <p:nvPr>
            <p:ph type="title"/>
          </p:nvPr>
        </p:nvSpPr>
        <p:spPr>
          <a:xfrm>
            <a:off x="2555631" y="358346"/>
            <a:ext cx="7080738" cy="6499654"/>
          </a:xfrm>
        </p:spPr>
        <p:txBody>
          <a:bodyPr vert="horz" lIns="91440" tIns="45720" rIns="91440" bIns="45720" rtlCol="0" anchor="ctr">
            <a:normAutofit fontScale="90000"/>
          </a:bodyPr>
          <a:lstStyle/>
          <a:p>
            <a:pPr algn="ctr"/>
            <a:r>
              <a:rPr lang="en-US" sz="5400" b="1" dirty="0">
                <a:solidFill>
                  <a:schemeClr val="bg1"/>
                </a:solidFill>
                <a:latin typeface="Times New Roman" panose="02020603050405020304" pitchFamily="18" charset="0"/>
                <a:cs typeface="Times New Roman" panose="02020603050405020304" pitchFamily="18" charset="0"/>
              </a:rPr>
              <a:t> </a:t>
            </a: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r>
              <a:rPr lang="en-US" sz="8000" b="1" dirty="0">
                <a:solidFill>
                  <a:schemeClr val="bg1"/>
                </a:solidFill>
                <a:latin typeface="Times New Roman" panose="02020603050405020304" pitchFamily="18" charset="0"/>
                <a:cs typeface="Times New Roman" panose="02020603050405020304" pitchFamily="18" charset="0"/>
              </a:rPr>
              <a:t>Thank You</a:t>
            </a: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br>
              <a:rPr lang="en-US" sz="5400" b="1"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Presented by :- Prachi Shah</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Student at The University of Akron</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Major - Business Data Analytics and Business Administration</a:t>
            </a:r>
            <a:br>
              <a:rPr lang="en-US" sz="5400" dirty="0">
                <a:solidFill>
                  <a:schemeClr val="bg1"/>
                </a:solidFill>
                <a:latin typeface="Times New Roman" panose="02020603050405020304" pitchFamily="18" charset="0"/>
                <a:cs typeface="Times New Roman" panose="02020603050405020304" pitchFamily="18" charset="0"/>
              </a:rPr>
            </a:br>
            <a:br>
              <a:rPr lang="en-US" sz="5400" dirty="0">
                <a:solidFill>
                  <a:schemeClr val="bg1"/>
                </a:solidFill>
                <a:latin typeface="Times New Roman" panose="02020603050405020304" pitchFamily="18" charset="0"/>
                <a:cs typeface="Times New Roman" panose="02020603050405020304" pitchFamily="18" charset="0"/>
              </a:rPr>
            </a:br>
            <a:endParaRPr lang="en-US" sz="5400" dirty="0">
              <a:solidFill>
                <a:schemeClr val="bg1"/>
              </a:solidFill>
            </a:endParaRPr>
          </a:p>
        </p:txBody>
      </p:sp>
    </p:spTree>
    <p:extLst>
      <p:ext uri="{BB962C8B-B14F-4D97-AF65-F5344CB8AC3E}">
        <p14:creationId xmlns:p14="http://schemas.microsoft.com/office/powerpoint/2010/main" val="54325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883"/>
    </mc:Choice>
    <mc:Fallback xmlns="">
      <p:transition spd="slow" advTm="388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359</Words>
  <Application>Microsoft Macintosh PowerPoint</Application>
  <PresentationFormat>Widescreen</PresentationFormat>
  <Paragraphs>20</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Data Inc. 5000 Homework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Presented by :- Prachi Shah Student at The University of Akron Major - Business Data Analytics and Business Administration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Inc 5000 Homework</dc:title>
  <dc:creator/>
  <cp:lastModifiedBy>Prachi Shah</cp:lastModifiedBy>
  <cp:revision>8</cp:revision>
  <dcterms:created xsi:type="dcterms:W3CDTF">2021-06-17T12:05:11Z</dcterms:created>
  <dcterms:modified xsi:type="dcterms:W3CDTF">2021-06-26T13:43:43Z</dcterms:modified>
</cp:coreProperties>
</file>